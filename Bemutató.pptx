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</p:sld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6F2077-76FC-12BE-85B7-E9B2105AC42E}" v="37" dt="2025-11-04T12:37:09.048"/>
    <p1510:client id="{EC7A4DBB-16AD-BADE-A37E-66EA6652544A}" v="464" dt="2025-11-04T14:16:49.145"/>
    <p1510:client id="{ECE39C92-D8B1-179E-1A0A-B775FDA7E702}" v="4" dt="2025-11-04T12:14:14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9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6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04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098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489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61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5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58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268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471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09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54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37" r:id="rId4"/>
    <p:sldLayoutId id="2147483738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8">
            <a:extLst>
              <a:ext uri="{FF2B5EF4-FFF2-40B4-BE49-F238E27FC236}">
                <a16:creationId xmlns:a16="http://schemas.microsoft.com/office/drawing/2014/main" id="{60220DBA-8988-4873-8FCD-3FFAC3CF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3">
            <a:extLst>
              <a:ext uri="{FF2B5EF4-FFF2-40B4-BE49-F238E27FC236}">
                <a16:creationId xmlns:a16="http://schemas.microsoft.com/office/drawing/2014/main" id="{FB750033-65C6-B180-8146-BC64145448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146" r="6" b="8443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21209" y="822960"/>
            <a:ext cx="7213092" cy="5015169"/>
          </a:xfrm>
        </p:spPr>
        <p:txBody>
          <a:bodyPr>
            <a:normAutofit/>
          </a:bodyPr>
          <a:lstStyle/>
          <a:p>
            <a:r>
              <a:rPr lang="hu-HU" sz="6000">
                <a:solidFill>
                  <a:srgbClr val="FFFFFF"/>
                </a:solidFill>
              </a:rPr>
              <a:t>Motlmpulse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947729" y="3041761"/>
            <a:ext cx="2698546" cy="2811381"/>
          </a:xfrm>
        </p:spPr>
        <p:txBody>
          <a:bodyPr>
            <a:normAutofit/>
          </a:bodyPr>
          <a:lstStyle/>
          <a:p>
            <a:r>
              <a:rPr lang="hu-HU" sz="1800" dirty="0">
                <a:solidFill>
                  <a:srgbClr val="FFFFFF"/>
                </a:solidFill>
              </a:rPr>
              <a:t>Motivációs webapplikáció</a:t>
            </a:r>
          </a:p>
        </p:txBody>
      </p:sp>
      <p:cxnSp>
        <p:nvCxnSpPr>
          <p:cNvPr id="81" name="Straight Connector 10">
            <a:extLst>
              <a:ext uri="{FF2B5EF4-FFF2-40B4-BE49-F238E27FC236}">
                <a16:creationId xmlns:a16="http://schemas.microsoft.com/office/drawing/2014/main" id="{3A8CB1B5-064D-4590-A7F2-70C604854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0238" y="571500"/>
            <a:ext cx="11060262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12">
            <a:extLst>
              <a:ext uri="{FF2B5EF4-FFF2-40B4-BE49-F238E27FC236}">
                <a16:creationId xmlns:a16="http://schemas.microsoft.com/office/drawing/2014/main" id="{923F81E2-AE9A-4D71-87B5-D24817F3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7300" y="571500"/>
            <a:ext cx="0" cy="57150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14">
            <a:extLst>
              <a:ext uri="{FF2B5EF4-FFF2-40B4-BE49-F238E27FC236}">
                <a16:creationId xmlns:a16="http://schemas.microsoft.com/office/drawing/2014/main" id="{95C0F619-4F98-49B2-B92F-39B242F38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6287848"/>
            <a:ext cx="11060263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32DB0D-8C61-9544-A91A-B2706CDB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latin typeface="Batang"/>
                <a:ea typeface="Batang"/>
              </a:rPr>
              <a:t>Projekt bemutatása</a:t>
            </a:r>
            <a:endParaRPr lang="hu-HU" b="1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1553BD-4013-8FB1-F1AE-C6D968AD53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hu-HU" sz="2400" b="1" dirty="0">
                <a:latin typeface="Batang"/>
                <a:ea typeface="Batang"/>
                <a:cs typeface="Arial"/>
              </a:rPr>
              <a:t>A </a:t>
            </a:r>
            <a:r>
              <a:rPr lang="hu-HU" sz="2400" b="1" err="1">
                <a:latin typeface="Batang"/>
                <a:ea typeface="Batang"/>
                <a:cs typeface="Arial"/>
              </a:rPr>
              <a:t>MotImpulse</a:t>
            </a:r>
            <a:r>
              <a:rPr lang="hu-HU" sz="2400" b="1" dirty="0">
                <a:latin typeface="Batang"/>
                <a:ea typeface="Batang"/>
                <a:cs typeface="Arial"/>
              </a:rPr>
              <a:t> egy motivációs és hangulatnapló webalkalmazás, amely lehetővé teszi a felhasználók számára, hogy rögzítsék napi érzéseiket, szokásaikat, és értékeljék napjaikat.</a:t>
            </a:r>
            <a:endParaRPr lang="hu-HU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7D94D62-F284-C32D-EC54-C4405D6FEB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hu-HU" sz="2400" b="1" dirty="0">
                <a:latin typeface="Batang"/>
                <a:ea typeface="Batang"/>
                <a:cs typeface="Arial"/>
              </a:rPr>
              <a:t>Az alkalmazás célja a mentális jóllét támogatása, valamint személyre szabott motivációs idézetek megjelenítése a felhasználói adatok alapján.</a:t>
            </a:r>
            <a:endParaRPr lang="hu-HU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13043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E343F0-B997-8175-FE9B-EBD6EC4B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latin typeface="Batang"/>
                <a:ea typeface="Batang"/>
              </a:rPr>
              <a:t>Cél és funkciók</a:t>
            </a: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C1B074-7AC7-C29C-6681-705C752C52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824BE0A-CB0E-7C1C-0419-E5E9CAF3F2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hu-HU" sz="2200" b="1" dirty="0">
                <a:latin typeface="Batang"/>
                <a:ea typeface="+mn-lt"/>
                <a:cs typeface="+mn-lt"/>
              </a:rPr>
              <a:t>A rendszer lehetőséget biztosít a napi bejegyzések létrehozására, szerkesztésére, törlésére (</a:t>
            </a:r>
            <a:r>
              <a:rPr lang="hu-HU" sz="2200" b="1" err="1">
                <a:latin typeface="Batang"/>
                <a:ea typeface="+mn-lt"/>
                <a:cs typeface="+mn-lt"/>
              </a:rPr>
              <a:t>soft</a:t>
            </a:r>
            <a:r>
              <a:rPr lang="hu-HU" sz="2200" b="1" dirty="0">
                <a:latin typeface="Batang"/>
                <a:ea typeface="+mn-lt"/>
                <a:cs typeface="+mn-lt"/>
              </a:rPr>
              <a:t> </a:t>
            </a:r>
            <a:r>
              <a:rPr lang="hu-HU" sz="2200" b="1" err="1">
                <a:latin typeface="Batang"/>
                <a:ea typeface="+mn-lt"/>
                <a:cs typeface="+mn-lt"/>
              </a:rPr>
              <a:t>delete</a:t>
            </a:r>
            <a:r>
              <a:rPr lang="hu-HU" sz="2200" b="1" dirty="0">
                <a:latin typeface="Batang"/>
                <a:ea typeface="+mn-lt"/>
                <a:cs typeface="+mn-lt"/>
              </a:rPr>
              <a:t>), valamint az adatok statisztikai elemzésére. A motivációs funkciók célja, hogy a nap értékelése alapján releváns idézeteket és tanácsokat jelenítsenek meg.</a:t>
            </a:r>
            <a:endParaRPr lang="hu-HU" sz="2200" b="1">
              <a:latin typeface="Batang"/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15143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71FBA0-8CE5-6832-9460-9CF5EA8E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b="1" dirty="0">
                <a:latin typeface="Batang"/>
                <a:ea typeface="Batang"/>
                <a:cs typeface="Arial"/>
              </a:rPr>
              <a:t>Használt technológiák</a:t>
            </a:r>
            <a:endParaRPr lang="hu-HU" b="1" dirty="0">
              <a:latin typeface="Batang"/>
              <a:ea typeface="Batang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046B1F6-A221-B5EB-0C08-186B79168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hu-HU" sz="2400" b="1">
                <a:latin typeface="Batang"/>
                <a:ea typeface="+mn-lt"/>
                <a:cs typeface="+mn-lt"/>
              </a:rPr>
              <a:t>Backend: </a:t>
            </a:r>
            <a:r>
              <a:rPr lang="hu-HU" sz="2400" b="1" err="1">
                <a:latin typeface="Batang"/>
                <a:ea typeface="+mn-lt"/>
                <a:cs typeface="+mn-lt"/>
              </a:rPr>
              <a:t>Laravel</a:t>
            </a:r>
            <a:r>
              <a:rPr lang="hu-HU" sz="2400" b="1">
                <a:latin typeface="Batang"/>
                <a:ea typeface="+mn-lt"/>
                <a:cs typeface="+mn-lt"/>
              </a:rPr>
              <a:t> (PHP keretrendszer, REST API)</a:t>
            </a:r>
            <a:endParaRPr lang="hu-HU" sz="2400" b="1" dirty="0">
              <a:latin typeface="Batang"/>
              <a:ea typeface="+mn-lt"/>
              <a:cs typeface="+mn-lt"/>
            </a:endParaRPr>
          </a:p>
          <a:p>
            <a:pPr algn="just"/>
            <a:r>
              <a:rPr lang="hu-HU" sz="2400" b="1">
                <a:latin typeface="Batang"/>
                <a:ea typeface="+mn-lt"/>
                <a:cs typeface="+mn-lt"/>
              </a:rPr>
              <a:t>Frontend: </a:t>
            </a:r>
            <a:r>
              <a:rPr lang="hu-HU" sz="2400" b="1" err="1">
                <a:latin typeface="Batang"/>
                <a:ea typeface="+mn-lt"/>
                <a:cs typeface="+mn-lt"/>
              </a:rPr>
              <a:t>Angular</a:t>
            </a:r>
            <a:r>
              <a:rPr lang="hu-HU" sz="2400" b="1">
                <a:latin typeface="Batang"/>
                <a:ea typeface="+mn-lt"/>
                <a:cs typeface="+mn-lt"/>
              </a:rPr>
              <a:t> (SPA architektúra)</a:t>
            </a:r>
            <a:endParaRPr lang="hu-HU" sz="2400" b="1" dirty="0">
              <a:latin typeface="Batang"/>
              <a:ea typeface="+mn-lt"/>
              <a:cs typeface="+mn-lt"/>
            </a:endParaRPr>
          </a:p>
          <a:p>
            <a:pPr algn="just"/>
            <a:r>
              <a:rPr lang="hu-HU" sz="2400" b="1" dirty="0">
                <a:latin typeface="Batang"/>
                <a:ea typeface="+mn-lt"/>
                <a:cs typeface="+mn-lt"/>
              </a:rPr>
              <a:t>Adatbázis: </a:t>
            </a:r>
            <a:r>
              <a:rPr lang="hu-HU" sz="2400" b="1" err="1">
                <a:latin typeface="Batang"/>
                <a:ea typeface="+mn-lt"/>
                <a:cs typeface="+mn-lt"/>
              </a:rPr>
              <a:t>MySQL</a:t>
            </a:r>
            <a:endParaRPr lang="hu-HU" sz="2400" b="1" dirty="0">
              <a:latin typeface="Batang"/>
              <a:ea typeface="+mn-lt"/>
              <a:cs typeface="+mn-lt"/>
            </a:endParaRPr>
          </a:p>
          <a:p>
            <a:pPr algn="just"/>
            <a:r>
              <a:rPr lang="hu-HU" sz="2400" b="1" dirty="0">
                <a:latin typeface="Batang"/>
                <a:ea typeface="+mn-lt"/>
                <a:cs typeface="+mn-lt"/>
              </a:rPr>
              <a:t>Verziókezelés: </a:t>
            </a:r>
            <a:r>
              <a:rPr lang="hu-HU" sz="2400" b="1" err="1">
                <a:latin typeface="Batang"/>
                <a:ea typeface="+mn-lt"/>
                <a:cs typeface="+mn-lt"/>
              </a:rPr>
              <a:t>Git</a:t>
            </a:r>
            <a:r>
              <a:rPr lang="hu-HU" sz="2400" b="1" dirty="0">
                <a:latin typeface="Batang"/>
                <a:ea typeface="+mn-lt"/>
                <a:cs typeface="+mn-lt"/>
              </a:rPr>
              <a:t>, GitHub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1864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B1B2CE-8872-D825-99DD-31510074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b="1" dirty="0">
                <a:latin typeface="Batang"/>
                <a:ea typeface="Batang"/>
                <a:cs typeface="Arial"/>
              </a:rPr>
              <a:t>Rendszerarchitektúra</a:t>
            </a: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DABA2A-211E-40F7-203F-B958A3E84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 b="1" dirty="0">
                <a:latin typeface="Batang"/>
                <a:ea typeface="Batang"/>
                <a:cs typeface="Arial"/>
              </a:rPr>
              <a:t>A </a:t>
            </a:r>
            <a:r>
              <a:rPr lang="hu-HU" sz="2400" b="1" err="1">
                <a:latin typeface="Batang"/>
                <a:ea typeface="Batang"/>
                <a:cs typeface="Arial"/>
              </a:rPr>
              <a:t>MotImpulse</a:t>
            </a:r>
            <a:r>
              <a:rPr lang="hu-HU" sz="2400" b="1" dirty="0">
                <a:latin typeface="Batang"/>
                <a:ea typeface="Batang"/>
                <a:cs typeface="Arial"/>
              </a:rPr>
              <a:t> architektúrája kliens-szerver alapú. </a:t>
            </a:r>
            <a:endParaRPr lang="hu-HU" dirty="0">
              <a:latin typeface="Avenir Next LT Pro Light"/>
              <a:ea typeface="Batang"/>
              <a:cs typeface="Arial"/>
            </a:endParaRPr>
          </a:p>
          <a:p>
            <a:r>
              <a:rPr lang="hu-HU" sz="2400" b="1" dirty="0">
                <a:latin typeface="Batang"/>
                <a:ea typeface="Batang"/>
                <a:cs typeface="Arial"/>
              </a:rPr>
              <a:t>Az </a:t>
            </a:r>
            <a:r>
              <a:rPr lang="hu-HU" sz="2400" b="1" err="1">
                <a:latin typeface="Batang"/>
                <a:ea typeface="Batang"/>
                <a:cs typeface="Arial"/>
              </a:rPr>
              <a:t>Angular</a:t>
            </a:r>
            <a:r>
              <a:rPr lang="hu-HU" sz="2400" b="1" dirty="0">
                <a:latin typeface="Batang"/>
                <a:ea typeface="Batang"/>
                <a:cs typeface="Arial"/>
              </a:rPr>
              <a:t> frontend HTTP kéréseket küld a </a:t>
            </a:r>
            <a:r>
              <a:rPr lang="hu-HU" sz="2400" b="1" err="1">
                <a:latin typeface="Batang"/>
                <a:ea typeface="Batang"/>
                <a:cs typeface="Arial"/>
              </a:rPr>
              <a:t>Laravel</a:t>
            </a:r>
            <a:r>
              <a:rPr lang="hu-HU" sz="2400" b="1" dirty="0">
                <a:latin typeface="Batang"/>
                <a:ea typeface="Batang"/>
                <a:cs typeface="Arial"/>
              </a:rPr>
              <a:t> REST API felé, amely az adatokat </a:t>
            </a:r>
            <a:r>
              <a:rPr lang="hu-HU" sz="2400" b="1" err="1">
                <a:latin typeface="Batang"/>
                <a:ea typeface="Batang"/>
                <a:cs typeface="Arial"/>
              </a:rPr>
              <a:t>MySQL</a:t>
            </a:r>
            <a:r>
              <a:rPr lang="hu-HU" sz="2400" b="1" dirty="0">
                <a:latin typeface="Batang"/>
                <a:ea typeface="Batang"/>
                <a:cs typeface="Arial"/>
              </a:rPr>
              <a:t> adatbázisban tárolja. </a:t>
            </a:r>
            <a:endParaRPr lang="hu-HU">
              <a:latin typeface="Avenir Next LT Pro Light"/>
              <a:ea typeface="Batang"/>
              <a:cs typeface="Arial"/>
            </a:endParaRPr>
          </a:p>
          <a:p>
            <a:r>
              <a:rPr lang="hu-HU" sz="2400" b="1" dirty="0">
                <a:latin typeface="Batang"/>
                <a:ea typeface="Batang"/>
                <a:cs typeface="Arial"/>
              </a:rPr>
              <a:t>A felhasználói hitelesítés JWT </a:t>
            </a:r>
            <a:r>
              <a:rPr lang="hu-HU" sz="2400" b="1" dirty="0" err="1">
                <a:latin typeface="Batang"/>
                <a:ea typeface="Batang"/>
                <a:cs typeface="Arial"/>
              </a:rPr>
              <a:t>tokenekkel</a:t>
            </a:r>
            <a:r>
              <a:rPr lang="hu-HU" sz="2400" b="1" dirty="0">
                <a:latin typeface="Batang"/>
                <a:ea typeface="Batang"/>
                <a:cs typeface="Arial"/>
              </a:rPr>
              <a:t> történik.</a:t>
            </a:r>
            <a:endParaRPr lang="hu-HU"/>
          </a:p>
          <a:p>
            <a:pPr marL="0" indent="0">
              <a:buNone/>
            </a:pPr>
            <a:endParaRPr lang="hu-HU" sz="1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0804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2A9215-FDBC-B243-334D-DE262CD8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latin typeface="Batang"/>
                <a:ea typeface="Batang"/>
              </a:rPr>
              <a:t>Funkcionális követelmények</a:t>
            </a:r>
            <a:endParaRPr lang="hu-HU" b="1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964B03-5DFE-3435-E14E-9D72A138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 b="1" dirty="0">
                <a:latin typeface="Batang"/>
                <a:ea typeface="+mn-lt"/>
                <a:cs typeface="+mn-lt"/>
              </a:rPr>
              <a:t>Felhasználói regisztráció, belépés és kijelentkezés</a:t>
            </a:r>
            <a:endParaRPr lang="hu-HU" sz="2400" b="1">
              <a:latin typeface="Batang"/>
              <a:ea typeface="Batang"/>
            </a:endParaRPr>
          </a:p>
          <a:p>
            <a:r>
              <a:rPr lang="hu-HU" sz="2400" b="1" dirty="0">
                <a:latin typeface="Batang"/>
                <a:ea typeface="+mn-lt"/>
                <a:cs typeface="+mn-lt"/>
              </a:rPr>
              <a:t>Napi bejegyzések létrehozása, szerkesztése és </a:t>
            </a:r>
            <a:r>
              <a:rPr lang="hu-HU" sz="2400" b="1" err="1">
                <a:latin typeface="Batang"/>
                <a:ea typeface="+mn-lt"/>
                <a:cs typeface="+mn-lt"/>
              </a:rPr>
              <a:t>soft</a:t>
            </a:r>
            <a:r>
              <a:rPr lang="hu-HU" sz="2400" b="1" dirty="0">
                <a:latin typeface="Batang"/>
                <a:ea typeface="+mn-lt"/>
                <a:cs typeface="+mn-lt"/>
              </a:rPr>
              <a:t> törlése</a:t>
            </a:r>
          </a:p>
          <a:p>
            <a:r>
              <a:rPr lang="hu-HU" sz="2400" b="1" dirty="0">
                <a:latin typeface="Batang"/>
                <a:ea typeface="+mn-lt"/>
                <a:cs typeface="+mn-lt"/>
              </a:rPr>
              <a:t>Motivációs idézetek megjelenítése a napi értékelés alapján</a:t>
            </a:r>
          </a:p>
          <a:p>
            <a:r>
              <a:rPr lang="hu-HU" sz="2400" b="1" dirty="0">
                <a:latin typeface="Batang"/>
                <a:ea typeface="+mn-lt"/>
                <a:cs typeface="+mn-lt"/>
              </a:rPr>
              <a:t>Statisztikák megjelenítése (hangulat, alvás, egészség trendek)</a:t>
            </a:r>
          </a:p>
          <a:p>
            <a:r>
              <a:rPr lang="hu-HU" sz="2400" b="1" err="1">
                <a:latin typeface="Batang"/>
                <a:ea typeface="+mn-lt"/>
                <a:cs typeface="+mn-lt"/>
              </a:rPr>
              <a:t>Admin</a:t>
            </a:r>
            <a:r>
              <a:rPr lang="hu-HU" sz="2400" b="1" dirty="0">
                <a:latin typeface="Batang"/>
                <a:ea typeface="+mn-lt"/>
                <a:cs typeface="+mn-lt"/>
              </a:rPr>
              <a:t> felület idézetek kezelésére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64477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D4893A-9964-D470-032C-37CAA518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latin typeface="Batang"/>
                <a:ea typeface="Batang"/>
              </a:rPr>
              <a:t>Nem funkcionális követelmények</a:t>
            </a: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D7DFE1-74AB-6978-AB69-7720936ED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 b="1" dirty="0">
                <a:latin typeface="Batang"/>
                <a:ea typeface="Batang"/>
                <a:cs typeface="Arial"/>
              </a:rPr>
              <a:t>Reszponzív felhasználói felület</a:t>
            </a:r>
          </a:p>
          <a:p>
            <a:r>
              <a:rPr lang="hu-HU" sz="2400" b="1" dirty="0">
                <a:latin typeface="Batang"/>
                <a:ea typeface="Batang"/>
                <a:cs typeface="Arial"/>
              </a:rPr>
              <a:t>Adatbiztonság (titkosított jelszavak, hitelesített kérések)</a:t>
            </a:r>
          </a:p>
          <a:p>
            <a:r>
              <a:rPr lang="hu-HU" sz="2400" b="1" dirty="0">
                <a:latin typeface="Batang"/>
                <a:ea typeface="Batang"/>
                <a:cs typeface="Arial"/>
              </a:rPr>
              <a:t>Megbízhatóság és könnyű karbantarthatóság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92445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1AF9EC-F8D1-BF29-C3DB-E090EE880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latin typeface="Batang"/>
                <a:ea typeface="Batang"/>
              </a:rPr>
              <a:t>Jogosultságok</a:t>
            </a:r>
            <a:endParaRPr lang="hu-HU" b="1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2EFAF53-888E-2F61-690C-4C652B1BB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hu-HU" dirty="0"/>
              <a:t>felhasználó</a:t>
            </a:r>
            <a:endParaRPr lang="hu-HU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FC80079-B50C-9319-E3BD-F1522EADE1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hu-HU" sz="2400" b="1" dirty="0">
                <a:latin typeface="Batang"/>
                <a:ea typeface="Batang"/>
                <a:cs typeface="Arial"/>
              </a:rPr>
              <a:t>Saját bejegyzéseinek kezelése, motivációk megtekintése.</a:t>
            </a:r>
            <a:endParaRPr lang="hu-HU" sz="2400" b="1">
              <a:latin typeface="Batang"/>
              <a:ea typeface="Batang"/>
            </a:endParaRPr>
          </a:p>
          <a:p>
            <a:pPr marL="0" indent="0">
              <a:buNone/>
            </a:pPr>
            <a:endParaRPr lang="hu-HU">
              <a:cs typeface="Arial"/>
            </a:endParaRPr>
          </a:p>
          <a:p>
            <a:endParaRPr lang="hu-HU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84490B6-2981-9F97-7064-386C4832F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hu-HU" err="1"/>
              <a:t>Admin</a:t>
            </a:r>
            <a:endParaRPr lang="hu-HU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07CB914-8DE5-C5F7-79D2-EAE0E39E884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hu-HU" sz="2400" b="1" dirty="0">
                <a:latin typeface="Batang"/>
                <a:ea typeface="Batang"/>
              </a:rPr>
              <a:t>Motivációs idézetek kezelése, rendszerkarbantartás.</a:t>
            </a:r>
          </a:p>
        </p:txBody>
      </p:sp>
    </p:spTree>
    <p:extLst>
      <p:ext uri="{BB962C8B-B14F-4D97-AF65-F5344CB8AC3E}">
        <p14:creationId xmlns:p14="http://schemas.microsoft.com/office/powerpoint/2010/main" val="386221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23E838-5BD6-8016-AF0A-6B78EA2B4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3600" b="1" dirty="0">
                <a:latin typeface="Batang"/>
                <a:ea typeface="Batang"/>
              </a:rPr>
              <a:t>Tesztelési terv</a:t>
            </a:r>
            <a:endParaRPr lang="hu-HU" sz="3600" b="1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424D99-F34E-4E46-669B-5641E7DB6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sz="2000" b="1" dirty="0">
                <a:latin typeface="Batang"/>
                <a:ea typeface="Batang"/>
                <a:cs typeface="Arial"/>
              </a:rPr>
              <a:t>Felhasználói fiók: regisztráció, belépés, kijelentkezés</a:t>
            </a:r>
            <a:endParaRPr lang="hu-HU" sz="2000" b="1" dirty="0">
              <a:latin typeface="Batang"/>
              <a:ea typeface="Batang"/>
            </a:endParaRPr>
          </a:p>
          <a:p>
            <a:r>
              <a:rPr lang="hu-HU" sz="2000" b="1" dirty="0">
                <a:latin typeface="Batang"/>
                <a:ea typeface="Batang"/>
                <a:cs typeface="Arial"/>
              </a:rPr>
              <a:t>Napi bejegyzések: létrehozás, szerkesztés, törlés (</a:t>
            </a:r>
            <a:r>
              <a:rPr lang="hu-HU" sz="2000" b="1" err="1">
                <a:latin typeface="Batang"/>
                <a:ea typeface="Batang"/>
                <a:cs typeface="Arial"/>
              </a:rPr>
              <a:t>soft</a:t>
            </a:r>
            <a:r>
              <a:rPr lang="hu-HU" sz="2000" b="1" dirty="0">
                <a:latin typeface="Batang"/>
                <a:ea typeface="Batang"/>
                <a:cs typeface="Arial"/>
              </a:rPr>
              <a:t> </a:t>
            </a:r>
            <a:r>
              <a:rPr lang="hu-HU" sz="2000" b="1" err="1">
                <a:latin typeface="Batang"/>
                <a:ea typeface="Batang"/>
                <a:cs typeface="Arial"/>
              </a:rPr>
              <a:t>delete</a:t>
            </a:r>
            <a:r>
              <a:rPr lang="hu-HU" sz="2000" b="1" dirty="0">
                <a:latin typeface="Batang"/>
                <a:ea typeface="Batang"/>
                <a:cs typeface="Arial"/>
              </a:rPr>
              <a:t>)</a:t>
            </a:r>
          </a:p>
          <a:p>
            <a:r>
              <a:rPr lang="hu-HU" sz="2000" b="1" dirty="0">
                <a:latin typeface="Batang"/>
                <a:ea typeface="Batang"/>
                <a:cs typeface="Arial"/>
              </a:rPr>
              <a:t>Motivációs idézetek: megjelenítés pontszám alapján</a:t>
            </a:r>
          </a:p>
          <a:p>
            <a:r>
              <a:rPr lang="hu-HU" sz="2000" b="1" dirty="0">
                <a:latin typeface="Batang"/>
                <a:ea typeface="Batang"/>
                <a:cs typeface="Arial"/>
              </a:rPr>
              <a:t>Navigáció és linkek: menük, oldalak, visszanavigálás</a:t>
            </a:r>
          </a:p>
          <a:p>
            <a:r>
              <a:rPr lang="hu-HU" sz="2000" b="1" dirty="0">
                <a:latin typeface="Batang"/>
                <a:ea typeface="Batang"/>
                <a:cs typeface="Arial"/>
              </a:rPr>
              <a:t>Statisztikák: helyes adatmegjelenítés, átlagok</a:t>
            </a:r>
          </a:p>
          <a:p>
            <a:r>
              <a:rPr lang="hu-HU" sz="2000" b="1" dirty="0">
                <a:latin typeface="Batang"/>
                <a:ea typeface="Batang"/>
                <a:cs typeface="Arial"/>
              </a:rPr>
              <a:t>Hibakezelés: hiányos adatok, duplikált nap, jogosulatlan hozzáférés</a:t>
            </a:r>
            <a:endParaRPr lang="hu-HU" sz="2000" b="1" dirty="0">
              <a:latin typeface="Batang"/>
              <a:ea typeface="Batang"/>
            </a:endParaRPr>
          </a:p>
          <a:p>
            <a:endParaRPr lang="hu-HU" sz="2000" b="1" dirty="0">
              <a:latin typeface="Batang"/>
              <a:ea typeface="Batang"/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ABDB074-1F61-844C-D976-EB453BD30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702900" cy="34284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 b="1" dirty="0">
                <a:latin typeface="Batang"/>
                <a:ea typeface="Batang"/>
                <a:cs typeface="Arial"/>
              </a:rPr>
              <a:t>A tesztelés célja a </a:t>
            </a:r>
            <a:r>
              <a:rPr lang="hu-HU" sz="2000" b="1" err="1">
                <a:latin typeface="Batang"/>
                <a:ea typeface="Batang"/>
                <a:cs typeface="Arial"/>
              </a:rPr>
              <a:t>MotImpulse</a:t>
            </a:r>
            <a:r>
              <a:rPr lang="hu-HU" sz="2000" b="1" dirty="0">
                <a:latin typeface="Batang"/>
                <a:ea typeface="Batang"/>
                <a:cs typeface="Arial"/>
              </a:rPr>
              <a:t> fő funkcióinak manuális ellenőrzése. A csapat a funkciókat felhasználói szemmel vizsgálja, nem automatizált eszközökkel.</a:t>
            </a:r>
          </a:p>
        </p:txBody>
      </p:sp>
    </p:spTree>
    <p:extLst>
      <p:ext uri="{BB962C8B-B14F-4D97-AF65-F5344CB8AC3E}">
        <p14:creationId xmlns:p14="http://schemas.microsoft.com/office/powerpoint/2010/main" val="152272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3F9734-1514-0750-5EB5-D1E2A829C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latin typeface="Batang"/>
                <a:ea typeface="Batang"/>
              </a:rPr>
              <a:t>Összefoglaló</a:t>
            </a: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7098B0-E325-D838-970A-2EEFC048C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hu-HU" sz="2400" b="1" dirty="0">
                <a:latin typeface="Batang"/>
                <a:ea typeface="Batang"/>
                <a:cs typeface="Arial"/>
              </a:rPr>
              <a:t>A </a:t>
            </a:r>
            <a:r>
              <a:rPr lang="hu-HU" sz="2400" b="1" dirty="0" err="1">
                <a:latin typeface="Batang"/>
                <a:ea typeface="Batang"/>
                <a:cs typeface="Arial"/>
              </a:rPr>
              <a:t>MotImpulse</a:t>
            </a:r>
            <a:r>
              <a:rPr lang="hu-HU" sz="2400" b="1" dirty="0">
                <a:latin typeface="Batang"/>
                <a:ea typeface="Batang"/>
                <a:cs typeface="Arial"/>
              </a:rPr>
              <a:t> egy motivációs és hangulatkövető rendszer, amely a felhasználók mindennapi jóllétét támogatja. A </a:t>
            </a:r>
            <a:r>
              <a:rPr lang="hu-HU" sz="2400" b="1" dirty="0" err="1">
                <a:latin typeface="Batang"/>
                <a:ea typeface="Batang"/>
                <a:cs typeface="Arial"/>
              </a:rPr>
              <a:t>Laravel</a:t>
            </a:r>
            <a:r>
              <a:rPr lang="hu-HU" sz="2400" b="1" dirty="0">
                <a:latin typeface="Batang"/>
                <a:ea typeface="Batang"/>
                <a:cs typeface="Arial"/>
              </a:rPr>
              <a:t> – </a:t>
            </a:r>
            <a:r>
              <a:rPr lang="hu-HU" sz="2400" b="1" dirty="0" err="1">
                <a:latin typeface="Batang"/>
                <a:ea typeface="Batang"/>
                <a:cs typeface="Arial"/>
              </a:rPr>
              <a:t>Angular</a:t>
            </a:r>
            <a:r>
              <a:rPr lang="hu-HU" sz="2400" b="1" dirty="0">
                <a:latin typeface="Batang"/>
                <a:ea typeface="Batang"/>
                <a:cs typeface="Arial"/>
              </a:rPr>
              <a:t> alapú architektúra modern, bővíthető és könnyen karbantartható megoldást biztosít.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4494383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0b84d7-7353-4926-92be-e2c8d78c490d">
      <Terms xmlns="http://schemas.microsoft.com/office/infopath/2007/PartnerControls"/>
    </lcf76f155ced4ddcb4097134ff3c332f>
    <TaxCatchAll xmlns="e1505873-06a5-4620-bb33-ff4acdf97ef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962125C5B26F0B42B8847B460A275061" ma:contentTypeVersion="10" ma:contentTypeDescription="Új dokumentum létrehozása." ma:contentTypeScope="" ma:versionID="ddc2c396281fe22853ccbdc154d51fc1">
  <xsd:schema xmlns:xsd="http://www.w3.org/2001/XMLSchema" xmlns:xs="http://www.w3.org/2001/XMLSchema" xmlns:p="http://schemas.microsoft.com/office/2006/metadata/properties" xmlns:ns2="2a0b84d7-7353-4926-92be-e2c8d78c490d" xmlns:ns3="e1505873-06a5-4620-bb33-ff4acdf97efb" targetNamespace="http://schemas.microsoft.com/office/2006/metadata/properties" ma:root="true" ma:fieldsID="f305fa930c15e47ef8cf22136c4e58d6" ns2:_="" ns3:_="">
    <xsd:import namespace="2a0b84d7-7353-4926-92be-e2c8d78c490d"/>
    <xsd:import namespace="e1505873-06a5-4620-bb33-ff4acdf97e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0b84d7-7353-4926-92be-e2c8d78c49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Képcímkék" ma:readOnly="false" ma:fieldId="{5cf76f15-5ced-4ddc-b409-7134ff3c332f}" ma:taxonomyMulti="true" ma:sspId="bd4da385-952a-4b26-b1d4-779368ac1e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05873-06a5-4620-bb33-ff4acdf97e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ae1a5f-b8dd-4fe8-a88e-e88e87fb6be8}" ma:internalName="TaxCatchAll" ma:showField="CatchAllData" ma:web="e1505873-06a5-4620-bb33-ff4acdf97e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453157-1C9C-48EE-919E-20D5B60AC6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21C8A2-88C6-4586-93C0-B2EA4CF274B9}">
  <ds:schemaRefs>
    <ds:schemaRef ds:uri="http://schemas.microsoft.com/office/2006/metadata/properties"/>
    <ds:schemaRef ds:uri="http://schemas.microsoft.com/office/infopath/2007/PartnerControls"/>
    <ds:schemaRef ds:uri="2a0b84d7-7353-4926-92be-e2c8d78c490d"/>
    <ds:schemaRef ds:uri="e1505873-06a5-4620-bb33-ff4acdf97efb"/>
  </ds:schemaRefs>
</ds:datastoreItem>
</file>

<file path=customXml/itemProps3.xml><?xml version="1.0" encoding="utf-8"?>
<ds:datastoreItem xmlns:ds="http://schemas.openxmlformats.org/officeDocument/2006/customXml" ds:itemID="{4C4A87AF-F11B-461D-BDEE-BBFBE3AFBD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0b84d7-7353-4926-92be-e2c8d78c490d"/>
    <ds:schemaRef ds:uri="e1505873-06a5-4620-bb33-ff4acdf97e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10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1" baseType="lpstr">
      <vt:lpstr>AlignmentVTI</vt:lpstr>
      <vt:lpstr>Motlmpulse</vt:lpstr>
      <vt:lpstr>Projekt bemutatása</vt:lpstr>
      <vt:lpstr>Cél és funkciók</vt:lpstr>
      <vt:lpstr>Használt technológiák</vt:lpstr>
      <vt:lpstr>Rendszerarchitektúra</vt:lpstr>
      <vt:lpstr>Funkcionális követelmények</vt:lpstr>
      <vt:lpstr>Nem funkcionális követelmények</vt:lpstr>
      <vt:lpstr>Jogosultságok</vt:lpstr>
      <vt:lpstr>Tesztelési terv</vt:lpstr>
      <vt:lpstr>Összefoglaló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229</cp:revision>
  <dcterms:created xsi:type="dcterms:W3CDTF">2025-11-04T12:13:53Z</dcterms:created>
  <dcterms:modified xsi:type="dcterms:W3CDTF">2025-11-04T14:17:12Z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0x010100962125C5B26F0B42B8847B460A275061</vt:lpwstr>
  </property>
  <property fmtid="{D5CDD505-2E9C-101B-9397-08002B2CF9AE}" pid="3" name="MediaServiceImageTags">
    <vt:lpwstr/>
  </property>
</Properties>
</file>